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Nanobrain Lightweight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E0EF"/>
                </a:solidFill>
                <a:latin typeface="Calibri"/>
              </a:defRPr>
            </a:pPr>
            <a:r>
              <a:t>A User- and LLM-Friendly Workflow Authoring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DD"/>
                </a:solidFill>
                <a:latin typeface="Calibri"/>
              </a:defRPr>
            </a:pPr>
            <a:r>
              <a:t>For the Nanobrain HPC AI Agent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Calibri"/>
              </a:defRPr>
            </a:pPr>
            <a:r>
              <a:t>Research Preview  •  Scientific Computing  •  Distributed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69"/>
              </a:spcAft>
              <a:defRPr b="1" sz="1800">
                <a:solidFill>
                  <a:srgbClr val="90E0EF"/>
                </a:solidFill>
                <a:latin typeface="Calibri"/>
              </a:defRPr>
            </a:pPr>
            <a:r>
              <a:t>Nanobrain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  <a:r>
              <a:t>Event-driven AI agent framework for orchestrating distributed workflows on HPC systems.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69"/>
              </a:spcAft>
              <a:defRPr b="1" sz="1800">
                <a:solidFill>
                  <a:srgbClr val="FF9900"/>
                </a:solidFill>
                <a:latin typeface="Calibri"/>
              </a:defRPr>
            </a:pPr>
            <a:r>
              <a:t>The Challenge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  <a:r>
              <a:t>Every component must be instantiated via from_config() with YAML files.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  <a:r>
              <a:t>Direct constructor calls are forbidden — writing correct YAML requires deep framework knowledge.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69"/>
              </a:spcAft>
              <a:defRPr b="1" sz="1800">
                <a:solidFill>
                  <a:srgbClr val="06D6A0"/>
                </a:solidFill>
                <a:latin typeface="Calibri"/>
              </a:defRPr>
            </a:pPr>
            <a:r>
              <a:t>Nanobrain Lightweight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  <a:r>
              <a:t>A purpose-built authoring interface that lets humans and LLMs compose valid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  <a:r>
              <a:t>Nanobrain workflow configurations without knowing the framework’s internals.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69"/>
              </a:spcAft>
              <a:defRPr b="1" sz="1800">
                <a:solidFill>
                  <a:srgbClr val="FFD166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  <a:r>
              <a:t>Lightweight generates configs → the full framework executes them.</a:t>
            </a:r>
          </a:p>
          <a:p>
            <a:pPr algn="l">
              <a:spcAft>
                <a:spcPts val="469"/>
              </a:spcAft>
              <a:defRPr b="0" sz="1800">
                <a:solidFill>
                  <a:srgbClr val="FFFFFF"/>
                </a:solidFill>
                <a:latin typeface="Calibri"/>
              </a:defRPr>
            </a:pPr>
            <a:r>
              <a:t>It is an authoring tool, not a runtime.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The Problem: Authoring Barrier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The full framework forbids direct constructors — only from_config() is allowed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76F"/>
                </a:solidFill>
                <a:latin typeface="Calibri"/>
              </a:defRPr>
            </a:pPr>
            <a:r>
              <a:t>❌  Direct Construction (Forbidden)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029200" cy="109728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# Raises ValueError at runtime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agent = ConversationalAgent(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name="test", model="gpt-4"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✅  from_config() (Required)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65960"/>
            <a:ext cx="5029200" cy="109728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# The only valid way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agent = ConversationalAgent.from_config(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"config/my_agent.yml"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0E0EF"/>
                </a:solidFill>
                <a:latin typeface="Calibri"/>
              </a:defRPr>
            </a:pPr>
            <a:r>
              <a:t>To write correct YAML, the author must know: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5"/>
              </a:spcAft>
              <a:defRPr b="0" sz="1500">
                <a:solidFill>
                  <a:srgbClr val="CCCCDD"/>
                </a:solidFill>
                <a:latin typeface="Calibri"/>
              </a:defRPr>
            </a:pPr>
            <a:r>
              <a:t>1.  Full Python class paths  (e.g., nanobrain.library.agents...EnhancedCollaborativeAgent)</a:t>
            </a:r>
          </a:p>
          <a:p>
            <a:pPr algn="l">
              <a:spcAft>
                <a:spcPts val="575"/>
              </a:spcAft>
              <a:defRPr b="0" sz="1500">
                <a:solidFill>
                  <a:srgbClr val="CCCCDD"/>
                </a:solidFill>
                <a:latin typeface="Calibri"/>
              </a:defRPr>
            </a:pPr>
            <a:r>
              <a:t>2.  Which YAML config file corresponds to each component</a:t>
            </a:r>
          </a:p>
          <a:p>
            <a:pPr algn="l">
              <a:spcAft>
                <a:spcPts val="575"/>
              </a:spcAft>
              <a:defRPr b="0" sz="1500">
                <a:solidFill>
                  <a:srgbClr val="CCCCDD"/>
                </a:solidFill>
                <a:latin typeface="Calibri"/>
              </a:defRPr>
            </a:pPr>
            <a:r>
              <a:t>3.  Which parameters each component accepts and their types</a:t>
            </a:r>
          </a:p>
          <a:p>
            <a:pPr algn="l">
              <a:spcAft>
                <a:spcPts val="575"/>
              </a:spcAft>
              <a:defRPr b="0" sz="1500">
                <a:solidFill>
                  <a:srgbClr val="CCCCDD"/>
                </a:solidFill>
                <a:latin typeface="Calibri"/>
              </a:defRPr>
            </a:pPr>
            <a:r>
              <a:t>4.  The framework’s linking and data unit conventions</a:t>
            </a:r>
          </a:p>
          <a:p>
            <a:pPr algn="l">
              <a:spcAft>
                <a:spcPts val="575"/>
              </a:spcAft>
              <a:defRPr b="0" sz="1500">
                <a:solidFill>
                  <a:srgbClr val="CCCCDD"/>
                </a:solidFill>
                <a:latin typeface="Calibri"/>
              </a:defRPr>
            </a:pPr>
            <a:r>
              <a:t>5.  Avoid importing the full framework (pulls in pydantic, asyncio, fastapi, parsl,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The Problem: Manual YAML Authoring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A simple chat workflow requires this hand-written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475488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name: my_workflow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description: Simple chat workflow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steps: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chat_agent: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class: nanobrain.library.agents.enhanced.\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       collaborative_agent.EnhancedCollaborativeAgent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config_file: library/config/agents/\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             enhanced_collaborative_agent.yml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model: gpt-4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temperature: 0.7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links: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- source: input_user_query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target: chat_agent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class: DirectLink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input_data_units: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user_query: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class: nanobrain.core.data_unit.DataUnitString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output_data_units: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response: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class: nanobrain.core.data_unit.DataUnitString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5029200"/>
            <a:ext cx="3657600" cy="914400"/>
          </a:xfrm>
          <a:prstGeom prst="round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EF476F"/>
                </a:solidFill>
                <a:latin typeface="Calibri"/>
              </a:defRPr>
            </a:pPr>
            <a:r>
              <a:t>Error-prone for humans</a:t>
            </a:r>
            <a:br/>
            <a:r>
              <a:t>Nearly impossible for LLMs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The Solution: Lightweight Authoring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The same workflow, authored with the Lightweight builder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274320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  <a:r>
              <a:t>from nanobrain.lightweight import workflow</a:t>
            </a:r>
          </a:p>
          <a:p>
            <a:pPr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  <a:r>
              <a:t>wf = workflow("my_workflow", "Simple chat workflow")</a:t>
            </a:r>
          </a:p>
          <a:p>
            <a:pPr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  <a:r>
              <a:t>wf.add_input("user_query", "DataUnitString")</a:t>
            </a:r>
          </a:p>
          <a:p>
            <a:pPr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  <a:r>
              <a:t>wf.add_step("chat_agent", "EnhancedCollaborativeAgent",</a:t>
            </a:r>
          </a:p>
          <a:p>
            <a:pPr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  <a:r>
              <a:t>            model="gpt-4", temperature=0.7)</a:t>
            </a:r>
          </a:p>
          <a:p>
            <a:pPr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  <a:r>
              <a:t>wf.add_output("response", "DataUnitString")</a:t>
            </a:r>
          </a:p>
          <a:p>
            <a:pPr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  <a:r>
              <a:t>wf.connect("user_query", "chat_agent")</a:t>
            </a:r>
          </a:p>
          <a:p>
            <a:pPr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  <a:r>
              <a:t>wf.connect("chat_agent", "response")</a:t>
            </a:r>
          </a:p>
          <a:p>
            <a:pPr>
              <a:spcAft>
                <a:spcPts val="100"/>
              </a:spcAft>
              <a:defRPr sz="1500">
                <a:solidFill>
                  <a:srgbClr val="90E0EF"/>
                </a:solidFill>
                <a:latin typeface="Consolas"/>
              </a:defRPr>
            </a:pPr>
            <a:r>
              <a:t>wf.save_config("my_workflow.yml")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Lightweight handles automatically: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b="0" sz="1600">
                <a:solidFill>
                  <a:srgbClr val="90E0EF"/>
                </a:solidFill>
                <a:latin typeface="Calibri"/>
              </a:defRPr>
            </a:pPr>
            <a:r>
              <a:t>✓  Resolves short names to full class paths</a:t>
            </a:r>
          </a:p>
          <a:p>
            <a:pPr algn="l">
              <a:spcAft>
                <a:spcPts val="519"/>
              </a:spcAft>
              <a:defRPr b="0" sz="1600">
                <a:solidFill>
                  <a:srgbClr val="90E0EF"/>
                </a:solidFill>
                <a:latin typeface="Calibri"/>
              </a:defRPr>
            </a:pPr>
            <a:r>
              <a:t>✓  Finds the correct config file with priority-based selection</a:t>
            </a:r>
          </a:p>
          <a:p>
            <a:pPr algn="l">
              <a:spcAft>
                <a:spcPts val="519"/>
              </a:spcAft>
              <a:defRPr b="0" sz="1600">
                <a:solidFill>
                  <a:srgbClr val="90E0EF"/>
                </a:solidFill>
                <a:latin typeface="Calibri"/>
              </a:defRPr>
            </a:pPr>
            <a:r>
              <a:t>✓  Validates parameters against component schemas</a:t>
            </a:r>
          </a:p>
          <a:p>
            <a:pPr algn="l">
              <a:spcAft>
                <a:spcPts val="519"/>
              </a:spcAft>
              <a:defRPr b="0" sz="1600">
                <a:solidFill>
                  <a:srgbClr val="90E0EF"/>
                </a:solidFill>
                <a:latin typeface="Calibri"/>
              </a:defRPr>
            </a:pPr>
            <a:r>
              <a:t>✓  Generates framework-compatible YAML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9728" cy="7315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Authoring, not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Lightweight generates configs; the full framework executes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9728" cy="73152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Discovery over memorization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Users and LLMs don’t need to know class paths — the discovery system finds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9728" cy="7315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  <a:latin typeface="Calibri"/>
              </a:defRPr>
            </a:pPr>
            <a:r>
              <a:t>Validation before serialization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Catch errors at authoring time, not at runtime.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109728" cy="73152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166"/>
                </a:solidFill>
                <a:latin typeface="Calibri"/>
              </a:defRPr>
            </a:pPr>
            <a:r>
              <a:t>Zero heavy imports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Avoids importing the full framework’s dependency chain (pydantic, asyncio, fastapi, parsl).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9728" cy="73152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0E0EF"/>
                </a:solidFill>
                <a:latin typeface="Calibri"/>
              </a:defRPr>
            </a:pPr>
            <a:r>
              <a:t>LLM-friendly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Simple method names, method chaining, clear error messages, predictable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Architecture: High-Level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From natural language intent to HPC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554480"/>
            <a:ext cx="393192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 / LLM</a:t>
            </a:r>
            <a:br/>
            <a:r>
              <a:t>"Build me a chat workflow"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377440"/>
            <a:ext cx="0" cy="36576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71600" y="2743200"/>
            <a:ext cx="9418320" cy="2286000"/>
          </a:xfrm>
          <a:prstGeom prst="roundRect">
            <a:avLst/>
          </a:prstGeom>
          <a:solidFill>
            <a:srgbClr val="1A2A3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Nanobrain Lightweight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246120"/>
            <a:ext cx="2743200" cy="731520"/>
          </a:xfrm>
          <a:prstGeom prst="roundRect">
            <a:avLst/>
          </a:prstGeom>
          <a:solidFill>
            <a:srgbClr val="004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0">
                <a:solidFill>
                  <a:srgbClr val="90E0EF"/>
                </a:solidFill>
                <a:latin typeface="Calibri"/>
              </a:defRPr>
            </a:pPr>
            <a:r>
              <a:t>Discovery System</a:t>
            </a:r>
            <a:br/>
            <a:r>
              <a:t>54+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46120"/>
            <a:ext cx="2743200" cy="731520"/>
          </a:xfrm>
          <a:prstGeom prst="roundRect">
            <a:avLst/>
          </a:prstGeom>
          <a:solidFill>
            <a:srgbClr val="004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0">
                <a:solidFill>
                  <a:srgbClr val="90E0EF"/>
                </a:solidFill>
                <a:latin typeface="Calibri"/>
              </a:defRPr>
            </a:pPr>
            <a:r>
              <a:t>Workflow Builder</a:t>
            </a:r>
            <a:br/>
            <a:r>
              <a:t>Validation + Composition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246120"/>
            <a:ext cx="2743200" cy="731520"/>
          </a:xfrm>
          <a:prstGeom prst="roundRect">
            <a:avLst/>
          </a:prstGeom>
          <a:solidFill>
            <a:srgbClr val="004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0">
                <a:solidFill>
                  <a:srgbClr val="90E0EF"/>
                </a:solidFill>
                <a:latin typeface="Calibri"/>
              </a:defRPr>
            </a:pPr>
            <a:r>
              <a:t>YAML Generator</a:t>
            </a:r>
            <a:br/>
            <a:r>
              <a:t>Framework-compatible output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89120" y="3611880"/>
            <a:ext cx="274320" cy="0"/>
          </a:xfrm>
          <a:prstGeom prst="line">
            <a:avLst/>
          </a:prstGeom>
          <a:ln w="25400">
            <a:solidFill>
              <a:srgbClr val="90E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3611880"/>
            <a:ext cx="274320" cy="0"/>
          </a:xfrm>
          <a:prstGeom prst="line">
            <a:avLst/>
          </a:prstGeom>
          <a:ln w="25400">
            <a:solidFill>
              <a:srgbClr val="90E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645920" y="4206240"/>
            <a:ext cx="8778240" cy="548640"/>
          </a:xfrm>
          <a:prstGeom prst="round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 b="0">
                <a:solidFill>
                  <a:srgbClr val="06D6A0"/>
                </a:solidFill>
                <a:latin typeface="Calibri"/>
              </a:defRPr>
            </a:pPr>
            <a:r>
              <a:t>Three-Level Validation: Component → Parameter → Workflow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5029200"/>
            <a:ext cx="0" cy="36576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5394960"/>
            <a:ext cx="6675120" cy="822960"/>
          </a:xfrm>
          <a:prstGeom prst="roundRect">
            <a:avLst/>
          </a:prstGeom>
          <a:solidFill>
            <a:srgbClr val="2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90E0EF"/>
                </a:solidFill>
                <a:latin typeface="Calibri"/>
              </a:defRPr>
            </a:pPr>
            <a:r>
              <a:t>Full Nanobrain Framework</a:t>
            </a:r>
            <a:br/>
            <a:r>
              <a:t>Workflow.from_config() → HPC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Module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nanobrain/lightweight/ — 10 Python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384048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nanobrain/lightweight/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__init__.py                    Public API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cli.py                         CLI interface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discovery.py                   Config-driven discovery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discovery_minimal.py           Stdlib-only discovery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config_based_discovery.py      Config-file variant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comprehensive_discovery.py     AST-based scanning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comprehensive_config_discovery.py  Full config scanning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refined_discovery.py           Priority-based selection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workflow_builder.py            Basic builder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enhanced_workflow_builder.py   Production builder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├── examples.py                    5 usage examples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└── README.md                     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3931920" cy="10972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68096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Discovery (6 modules)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20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Iterative development:</a:t>
            </a:r>
            <a:br/>
            <a:r>
              <a:t>minimal → config → AST → comprehensive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743200"/>
            <a:ext cx="3931920" cy="10972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68096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Builders (2 modules)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Basic (stdlib only)</a:t>
            </a:r>
            <a:br/>
            <a:r>
              <a:t>Enhanced (validation + YAML)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023360"/>
            <a:ext cx="3931920" cy="10972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68096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  <a:latin typeface="Calibri"/>
              </a:defRPr>
            </a:pPr>
            <a:r>
              <a:t>Interface (2 modules)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480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Public API (__init__.py)</a:t>
            </a:r>
            <a:br/>
            <a:r>
              <a:t>CLI (cli.py)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Discovery System: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Answers: "What components exist and how do I reference them?"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164592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B4D8"/>
                </a:solidFill>
                <a:latin typeface="Calibri"/>
              </a:defRPr>
            </a:pPr>
            <a:r>
              <a:t>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Recursively find all</a:t>
            </a:r>
            <a:br/>
            <a:r>
              <a:t>.yml/.yaml files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834640"/>
            <a:ext cx="27432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566160" y="164592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28600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1089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D6A0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yaml.safe_load()</a:t>
            </a:r>
            <a:br/>
            <a:r>
              <a:t>each config 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2834640"/>
            <a:ext cx="274320" cy="0"/>
          </a:xfrm>
          <a:prstGeom prst="line">
            <a:avLst/>
          </a:prstGeom>
          <a:ln w="25400">
            <a:solidFill>
              <a:srgbClr val="06D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52160" y="164592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28600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3949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9900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743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Find class: fields</a:t>
            </a:r>
            <a:br/>
            <a:r>
              <a:t>with nanobrain.* paths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69480" y="2834640"/>
            <a:ext cx="274320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138160" y="1645920"/>
            <a:ext cx="457200" cy="45720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228600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6809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D166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743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Check module.Class</a:t>
            </a:r>
            <a:br/>
            <a:r>
              <a:t>format, capitalization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55480" y="2834640"/>
            <a:ext cx="274320" cy="0"/>
          </a:xfrm>
          <a:prstGeom prst="line">
            <a:avLst/>
          </a:prstGeom>
          <a:ln w="2540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424160" y="1645920"/>
            <a:ext cx="457200" cy="45720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286000"/>
            <a:ext cx="2011680" cy="13716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9669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0E0EF"/>
                </a:solidFill>
                <a:latin typeface="Calibri"/>
              </a:defRPr>
            </a:pPr>
            <a:r>
              <a:t>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7432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t>Store class path,</a:t>
            </a:r>
            <a:br/>
            <a:r>
              <a:t>config, priority, category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4114800"/>
            <a:ext cx="9418320" cy="640080"/>
          </a:xfrm>
          <a:prstGeom prst="round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500" b="1">
                <a:solidFill>
                  <a:srgbClr val="06D6A0"/>
                </a:solidFill>
                <a:latin typeface="Calibri"/>
              </a:defRPr>
            </a:pPr>
            <a:r>
              <a:t>Result: 54+ components discovered across Agents, Steps, Tools, DataUnits, Executors, Links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0E0EF"/>
                </a:solidFill>
                <a:latin typeface="Calibri"/>
              </a:defRPr>
            </a:pPr>
            <a:r>
              <a:t>Simple API for querying: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40680"/>
            <a:ext cx="10515600" cy="100584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builder.list_available_components("Agent")     # → ["EnhancedCollaborativeAgent", ...]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builder.list_available_components("Step")      # → ["ConversationalResponseStep", ...]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builder.list_available_components("DataUnit")  # → ["DataUnitMemory", "DataUnitString", ...]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Discovery: Priority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When multiple config files define the same component, the highest-priority config wins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047" y="146304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Source Directory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(highest)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config/core/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Framework core configs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config/components/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component configs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config/ (root)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Base-level configurations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library/config/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Library-specific configs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 (lowest)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Other locations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Workflow configs, examples, demos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Discovered Components (54+)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Real framework components discovered via YAML config scanning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047" y="14630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EnhancedCollaborativeAgent, ViralExpertConversationalAgent, QueryAnalysisAgent, ProteinSynonymAgent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~10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ConversationalResponseStep, QueryClassificationStep, AlignmentStep, ClusteringStep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~15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BVBRCTool, MMseqs2Tool, MUSCLETool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Units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DataUnit, DataUnitMemory, DataUnitString, DataUnitFile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Executors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LocalExecutor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DirectLink, ConditionalLink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~3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Various workflow and infrastructure components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~15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Workflow Builder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Two implementations: Basic (stdlib only) and Enhanced (production)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Calibri"/>
              </a:defRPr>
            </a:pPr>
            <a:r>
              <a:t>WorkflowBuilder (Basic)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MinimalConfigDiscovery (stdlib only)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Method chaining API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JSON output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No parameter validation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Zero external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EnhancedWorkflowBuilder (Production)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ComprehensiveConfigDiscovery with priority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Full component lifecycle management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YAML and JSON output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Pydantic schema validation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Workflow topology validation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• Detailed summary with status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0E0EF"/>
                </a:solidFill>
                <a:latin typeface="Calibri"/>
              </a:defRPr>
            </a:pPr>
            <a:r>
              <a:t>EnhancedWorkflowBuilder API Surface: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515600" cy="201168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# Discovery</a:t>
            </a: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builder.list_available_components(category=None)  → List[str]</a:t>
            </a: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# Composition (all return self for chaining)</a:t>
            </a: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builder.add_component(name, class_name, config_choice=None, **params)</a:t>
            </a: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builder.add_input(name, data_unit_class="DataUnitMemory", **params)</a:t>
            </a: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builder.add_output(name, data_unit_class="DataUnitMemory", **params)</a:t>
            </a: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builder.connect(source, target, link_class="DirectLink", **params)</a:t>
            </a: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# Validation &amp; Output</a:t>
            </a: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builder.validate_workflow()  → {valid, errors, warnings}</a:t>
            </a:r>
          </a:p>
          <a:p>
            <a:pPr>
              <a:spcAft>
                <a:spcPts val="100"/>
              </a:spcAft>
              <a:defRPr sz="1200">
                <a:solidFill>
                  <a:srgbClr val="90E0EF"/>
                </a:solidFill>
                <a:latin typeface="Consolas"/>
              </a:defRPr>
            </a:pPr>
            <a:r>
              <a:t>builder.save_workflow(path, format="yaml")  → str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Three Levels of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4630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Level 1: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When add_component() is called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Checks that the class exists in the discovery registry</a:t>
            </a:r>
            <a:br/>
            <a:r>
              <a:t>and that the specified config file is valid.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515600" cy="14630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Level 2: 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When parameters are provided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If the component’s Pydantic schema can be extracted</a:t>
            </a:r>
            <a:br/>
            <a:r>
              <a:t>via importlib, parameters are type-checked (str, int, float, bool).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515600" cy="14630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  <a:latin typeface="Calibri"/>
              </a:defRPr>
            </a:pPr>
            <a:r>
              <a:t>Level 3: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When validate_workflow() is called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Calibri"/>
              </a:defRPr>
            </a:pPr>
            <a:r>
              <a:t>Checks for disconnected components, missing inputs/outputs,</a:t>
            </a:r>
            <a:br/>
            <a:r>
              <a:t>and aggregates all component-level errors.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Generated YAML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Directly loadable by Workflow.from_config()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0" cy="502920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name: my_workflow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description: Simple chat workflow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version: 1.0.0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steps: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chat_agent: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class: nanobrain.library.agents.enhanced.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       collaborative_agent.EnhancedCollaborativeAgent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config_file: library/config/agents/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             enhanced_collaborative_agent.yml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model: gpt-4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temperature: 0.7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links: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- source: input_user_query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target: chat_agent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class: DirectLink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input_data_units: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user_query: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class: nanobrain.core.data_unit.DataUnitString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config_file: config/core/data_unit_string.yml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output_data_units: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response: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class: nanobrain.core.data_unit.DataUnitString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config_file: config/core/data_unit_string.yml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metadata: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builder: EnhancedWorkflowBuilder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total_components: 3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total_connections: 2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validation_errors: []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645920"/>
            <a:ext cx="3840480" cy="6858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0">
                <a:solidFill>
                  <a:srgbClr val="90E0EF"/>
                </a:solidFill>
                <a:latin typeface="Calibri"/>
              </a:defRPr>
            </a:pPr>
            <a:r>
              <a:t>Workflow metadata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560320"/>
            <a:ext cx="3840480" cy="6858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0">
                <a:solidFill>
                  <a:srgbClr val="06D6A0"/>
                </a:solidFill>
                <a:latin typeface="Calibri"/>
              </a:defRPr>
            </a:pPr>
            <a:r>
              <a:t>Component with resolved</a:t>
            </a:r>
            <a:br/>
            <a:r>
              <a:t>class path + config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3657600"/>
            <a:ext cx="3840480" cy="6858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0">
                <a:solidFill>
                  <a:srgbClr val="FF9900"/>
                </a:solidFill>
                <a:latin typeface="Calibri"/>
              </a:defRPr>
            </a:pPr>
            <a:r>
              <a:t>Topology: links between</a:t>
            </a:r>
            <a:br/>
            <a:r>
              <a:t>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480560"/>
            <a:ext cx="3840480" cy="6858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0">
                <a:solidFill>
                  <a:srgbClr val="FFD166"/>
                </a:solidFill>
                <a:latin typeface="Calibri"/>
              </a:defRPr>
            </a:pPr>
            <a:r>
              <a:t>Typed data units with</a:t>
            </a:r>
            <a:br/>
            <a:r>
              <a:t>resolved class paths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5486400"/>
            <a:ext cx="3840480" cy="6858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0">
                <a:solidFill>
                  <a:srgbClr val="8888AA"/>
                </a:solidFill>
                <a:latin typeface="Calibri"/>
              </a:defRPr>
            </a:pPr>
            <a:r>
              <a:t>Build metadata for</a:t>
            </a:r>
            <a:br/>
            <a:r>
              <a:t>traceability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LLM Integration: Code Generation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An LLM generates Python code using the builder API from a natural language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411480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# LLM generates this from: "Build a viral protein analysis pipeline"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from nanobrain.lightweight.enhanced_workflow_builder \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import EnhancedWorkflowBuilder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builder = EnhancedWorkflowBuilder(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"viral_analysis", "Viral protein analysis pipeline"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builder.add_input("protein_sequence", "DataUnitString")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builder.add_component("expert",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    "ViralExpertConversationalAgent", temperature=0.3)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builder.add_component("alignment", "AlignmentStep")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builder.add_output("analysis_result", "DataUnitString")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builder.connect("protein_sequence", "expert")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builder.connect("expert", "alignment")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builder.connect("alignment", "analysis_result")</a:t>
            </a:r>
          </a:p>
          <a:p>
            <a:pPr>
              <a:spcAft>
                <a:spcPts val="100"/>
              </a:spcAft>
              <a:defRPr sz="1400">
                <a:solidFill>
                  <a:srgbClr val="90E0EF"/>
                </a:solidFill>
                <a:latin typeface="Consolas"/>
              </a:defRPr>
            </a:pPr>
            <a:r>
              <a:t>builder.save_workflow("viral_analysis.yml")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b="0" sz="1600">
                <a:solidFill>
                  <a:srgbClr val="90E0EF"/>
                </a:solidFill>
                <a:latin typeface="Calibri"/>
              </a:defRPr>
            </a:pPr>
            <a:r>
              <a:t>The LLM only needs: component names, method signatures, and available categories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LLM Integration: Discovery-Assisted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LLM first queries available components, then generates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Step 1: Discover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292608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from nanobrain.lightweight import (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list_agents, list_steps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agents = list_agents()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# → ["EnhancedCollaborativeAgent",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#    "ViralExpertConversationalAgent", ...]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steps = list_steps()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# → ["ConversationalResponseStep",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#    "AlignmentStep", ...]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  <a:latin typeface="Calibri"/>
              </a:defRPr>
            </a:pPr>
            <a:r>
              <a:t>Step 2: Generate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029200" cy="329184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from nanobrain.lightweight import workflow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# LLM selects components from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# discovered list and composes: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wf = workflow("my_pipeline",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          "Custom pipeline")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wf.add_input("query", "DataUnitString")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wf.add_step("agent",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    "EnhancedCollaborativeAgent")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wf.add_output("result", "DataUnitString")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wf.connect("query", "agent")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wf.connect("agent", "result")</a:t>
            </a:r>
          </a:p>
          <a:p>
            <a:pPr>
              <a:spcAft>
                <a:spcPts val="100"/>
              </a:spcAft>
              <a:defRPr sz="1300">
                <a:solidFill>
                  <a:srgbClr val="90E0EF"/>
                </a:solidFill>
                <a:latin typeface="Consolas"/>
              </a:defRPr>
            </a:pPr>
            <a:r>
              <a:t>wf.save_config("pipeline.yml")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3200400"/>
            <a:ext cx="64008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71600" y="5486400"/>
            <a:ext cx="9418320" cy="731520"/>
          </a:xfrm>
          <a:prstGeom prst="round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500" b="0">
                <a:solidFill>
                  <a:srgbClr val="06D6A0"/>
                </a:solidFill>
                <a:latin typeface="Calibri"/>
              </a:defRPr>
            </a:pPr>
            <a:r>
              <a:t>LLM can self-correct: validation errors provide clear messages for iterative refinement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What Makes It LLM-Friendly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Designed for reliable AI-assisted workflow generation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38247" y="1463040"/>
          <a:ext cx="7315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Why It Helps LLMs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Short component names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"EnhancedCollaborativeAgent" instead of full class path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 chaining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Predictable, linear code generation pattern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Validation with clear errors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can self-correct based on error messages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Category-based listing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narrows choices by intent ("I need an agent")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config selection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doesn’t need to know config file paths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YAML output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format the LLM already understands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The Handoff: Lightweight → Full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109728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90E0EF"/>
                </a:solidFill>
                <a:latin typeface="Calibri"/>
              </a:defRPr>
            </a:pPr>
            <a:r>
              <a:t>Lightweight</a:t>
            </a:r>
            <a:br/>
            <a:r>
              <a:t>builder.save_workflow("my_workflow.yml")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1920240"/>
            <a:ext cx="64008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0" y="1371600"/>
            <a:ext cx="2286000" cy="1097280"/>
          </a:xfrm>
          <a:prstGeom prst="roundRect">
            <a:avLst/>
          </a:prstGeom>
          <a:solidFill>
            <a:srgbClr val="2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D166"/>
                </a:solidFill>
                <a:latin typeface="Calibri"/>
              </a:defRPr>
            </a:pPr>
            <a:r>
              <a:t>my_workflow.yml</a:t>
            </a:r>
            <a:br/>
            <a:r>
              <a:t>(YAML config)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0" y="1920240"/>
            <a:ext cx="64008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326880" y="1371600"/>
            <a:ext cx="2286000" cy="1097280"/>
          </a:xfrm>
          <a:prstGeom prst="roundRect">
            <a:avLst/>
          </a:prstGeom>
          <a:solidFill>
            <a:srgbClr val="2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90E0EF"/>
                </a:solidFill>
                <a:latin typeface="Calibri"/>
              </a:defRPr>
            </a:pPr>
            <a:r>
              <a:t>Full Framework</a:t>
            </a:r>
            <a:br/>
            <a:r>
              <a:t>from_config()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What Lightweight Knows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✓  Available component classes (from YAML configs)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✓  Full class paths (extracted from class: fields)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✓  Config file locations (recorded during discovery)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✓  Config priorities (path-based ranking)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✓  Parameter schemas (via importlib, optional)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✓  Component categories (name heuristics)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76F"/>
                </a:solidFill>
                <a:latin typeface="Calibri"/>
              </a:defRPr>
            </a:pPr>
            <a:r>
              <a:t>What Lightweight Does NOT Know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✗  Runtime behavior of components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✗  Inter-component compatibility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✗  External dependency requirements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✗  HPC resource requirements (PBS/SLURM)</a:t>
            </a:r>
          </a:p>
          <a:p>
            <a:pPr algn="l">
              <a:spcAft>
                <a:spcPts val="620"/>
              </a:spcAft>
              <a:defRPr b="0" sz="1400">
                <a:solidFill>
                  <a:srgbClr val="CCCCDD"/>
                </a:solidFill>
                <a:latin typeface="Calibri"/>
              </a:defRPr>
            </a:pPr>
            <a:r>
              <a:t>✗  LLM provider availability / API keys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CLI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Four commands for interactive and scripted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37160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1B1B2F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Explore available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280160"/>
            <a:ext cx="5943600" cy="100584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000">
                <a:solidFill>
                  <a:srgbClr val="90E0EF"/>
                </a:solidFill>
                <a:latin typeface="Consolas"/>
              </a:defRPr>
            </a:pPr>
            <a:r>
              <a:t>python -m nanobrain.lightweight.cli discover</a:t>
            </a:r>
          </a:p>
          <a:p>
            <a:pPr>
              <a:spcAft>
                <a:spcPts val="100"/>
              </a:spcAft>
              <a:defRPr sz="1000">
                <a:solidFill>
                  <a:srgbClr val="90E0EF"/>
                </a:solidFill>
                <a:latin typeface="Consolas"/>
              </a:defRPr>
            </a:pPr>
            <a:r>
              <a:t>python -m nanobrain.lightweight.cli discover --category agent --verbose</a:t>
            </a:r>
          </a:p>
          <a:p>
            <a:pPr>
              <a:spcAft>
                <a:spcPts val="100"/>
              </a:spcAft>
              <a:defRPr sz="1000">
                <a:solidFill>
                  <a:srgbClr val="90E0EF"/>
                </a:solidFill>
                <a:latin typeface="Consolas"/>
              </a:defRPr>
            </a:pPr>
            <a:r>
              <a:t>python -m nanobrain.lightweight.cli discover --output discovery.json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371600" cy="4572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1B1B2F"/>
                </a:solidFill>
                <a:latin typeface="Calibri"/>
              </a:defRPr>
            </a:pPr>
            <a:r>
              <a:t>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Quick component listing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560320"/>
            <a:ext cx="5943600" cy="822959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000">
                <a:solidFill>
                  <a:srgbClr val="90E0EF"/>
                </a:solidFill>
                <a:latin typeface="Consolas"/>
              </a:defRPr>
            </a:pPr>
            <a:r>
              <a:t>python -m nanobrain.lightweight.cli list</a:t>
            </a:r>
          </a:p>
          <a:p>
            <a:pPr>
              <a:spcAft>
                <a:spcPts val="100"/>
              </a:spcAft>
              <a:defRPr sz="1000">
                <a:solidFill>
                  <a:srgbClr val="90E0EF"/>
                </a:solidFill>
                <a:latin typeface="Consolas"/>
              </a:defRPr>
            </a:pPr>
            <a:r>
              <a:t>python -m nanobrain.lightweight.cli list --category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37160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1B1B2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Interactive workflow 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840480"/>
            <a:ext cx="5943600" cy="64008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000">
                <a:solidFill>
                  <a:srgbClr val="90E0EF"/>
                </a:solidFill>
                <a:latin typeface="Consolas"/>
              </a:defRPr>
            </a:pPr>
            <a:r>
              <a:t>python -m nanobrain.lightweight.cli build --name my_wf --output my_wf.yml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371600" cy="45720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1B1B2F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Validate existing workflow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5120640"/>
            <a:ext cx="5943600" cy="64008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100"/>
              </a:spcAft>
              <a:defRPr sz="1000">
                <a:solidFill>
                  <a:srgbClr val="90E0EF"/>
                </a:solidFill>
                <a:latin typeface="Consolas"/>
              </a:defRPr>
            </a:pPr>
            <a:r>
              <a:t>python -m nanobrain.lightweight.cli validate my_workflow.yml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" cy="777240"/>
          </a:xfrm>
          <a:prstGeom prst="round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76F"/>
                </a:solidFill>
                <a:latin typeface="Calibri"/>
              </a:defRPr>
            </a:pPr>
            <a:r>
              <a:t>Discovery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6 discovery modules from iterative development — should be consolidated into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9728" cy="77724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Calibri"/>
              </a:defRPr>
            </a:pPr>
            <a:r>
              <a:t>Filesystem Dependency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Discovery requires access to the full framework’s config files on disk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9728" cy="77724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166"/>
                </a:solidFill>
                <a:latin typeface="Calibri"/>
              </a:defRPr>
            </a:pPr>
            <a:r>
              <a:t>No Semantic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Validates syntax but not semantics — cannot verify component connection compatibility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9728" cy="777240"/>
          </a:xfrm>
          <a:prstGeom prst="round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76F"/>
                </a:solidFill>
                <a:latin typeface="Calibri"/>
              </a:defRPr>
            </a:pPr>
            <a:r>
              <a:t>No Test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No automated tests for the lightweight module — property-based tests recommended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9728" cy="77724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Calibri"/>
              </a:defRPr>
            </a:pPr>
            <a:r>
              <a:t>Schema Extraction Requires Full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Pydantic schema extraction uses importlib — defeats zero-import goal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109728" cy="77724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166"/>
                </a:solidFill>
                <a:latin typeface="Calibri"/>
              </a:defRPr>
            </a:pPr>
            <a:r>
              <a:t>Limited Workflow 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Examples exist but no reusable templates for common patterns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" cy="7772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Consolidate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Merge 6 modules into one with strategy parameter (config / ast / registry / auto)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9728" cy="77724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Static Component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Ship pre-built registry for standalone operation without filesystem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9728" cy="77724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Calibri"/>
              </a:defRPr>
            </a:pPr>
            <a:r>
              <a:t>Connection-Type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Compatibility matrix for output→input type checking at authoring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9728" cy="77724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166"/>
                </a:solidFill>
                <a:latin typeface="Calibri"/>
              </a:defRPr>
            </a:pPr>
            <a:r>
              <a:t>Workflow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Pre-built templates: simple chat, RAG pipeline, bioinformatics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9728" cy="77724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0E0EF"/>
                </a:solidFill>
                <a:latin typeface="Calibri"/>
              </a:defRPr>
            </a:pPr>
            <a:r>
              <a:t>Automated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Property-based tests for discovery, builder validation, YAML round-tripping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109728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Pre-Extract Schemas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One-time schema extraction to JSON — load at runtime instead of importlib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Calibri"/>
              </a:defRPr>
            </a:pPr>
            <a:r>
              <a:t>Dependency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Calibri"/>
              </a:defRPr>
            </a:pPr>
            <a:r>
              <a:t>* Basic WorkflowBuilder works with zero external dependencies (stdlib only)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047" y="146304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Dependency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Required?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 3.7+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PyYAML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(Enhanced)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YAML parsing and generation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stdlib ast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AST-based Python source analysis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stdlib json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 output, schema loading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stdlib importlib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Schema extraction from full framework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Nanobrain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No*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 files on disk for discovery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9"/>
              </a:spcAft>
              <a:defRPr b="1" sz="2000">
                <a:solidFill>
                  <a:srgbClr val="FFFFFF"/>
                </a:solidFill>
                <a:latin typeface="Calibri"/>
              </a:defRPr>
            </a:pPr>
            <a:r>
              <a:t>Nanobrain Lightweight is a workflow authoring interface —</a:t>
            </a:r>
          </a:p>
          <a:p>
            <a:pPr algn="ctr">
              <a:spcAft>
                <a:spcPts val="599"/>
              </a:spcAft>
              <a:defRPr b="0" sz="2000">
                <a:solidFill>
                  <a:srgbClr val="CCCCDD"/>
                </a:solidFill>
                <a:latin typeface="Calibri"/>
              </a:defRPr>
            </a:pPr>
            <a:r>
              <a:t>a bridge between human intent (or LLM-generated code)</a:t>
            </a:r>
          </a:p>
          <a:p>
            <a:pPr algn="ctr">
              <a:spcAft>
                <a:spcPts val="599"/>
              </a:spcAft>
              <a:defRPr b="0" sz="2000">
                <a:solidFill>
                  <a:srgbClr val="CCCCDD"/>
                </a:solidFill>
                <a:latin typeface="Calibri"/>
              </a:defRPr>
            </a:pPr>
            <a:r>
              <a:t>and the full framework’s configuration-driven execution model.</a:t>
            </a:r>
          </a:p>
          <a:p>
            <a:pPr algn="ctr">
              <a:spcAft>
                <a:spcPts val="599"/>
              </a:spcAft>
              <a:defRPr b="0" sz="20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99"/>
              </a:spcAft>
              <a:defRPr b="0" sz="2000">
                <a:solidFill>
                  <a:srgbClr val="90E0EF"/>
                </a:solidFill>
                <a:latin typeface="Calibri"/>
              </a:defRPr>
            </a:pPr>
            <a:r>
              <a:t>It translates simple Python method calls into the complex YAML</a:t>
            </a:r>
          </a:p>
          <a:p>
            <a:pPr algn="ctr">
              <a:spcAft>
                <a:spcPts val="599"/>
              </a:spcAft>
              <a:defRPr b="0" sz="2000">
                <a:solidFill>
                  <a:srgbClr val="90E0EF"/>
                </a:solidFill>
                <a:latin typeface="Calibri"/>
              </a:defRPr>
            </a:pPr>
            <a:r>
              <a:t>configurations that the full Nanobrain framework requires.</a:t>
            </a:r>
          </a:p>
          <a:p>
            <a:pPr algn="ctr">
              <a:spcAft>
                <a:spcPts val="599"/>
              </a:spcAft>
              <a:defRPr b="0" sz="20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99"/>
              </a:spcAft>
              <a:defRPr b="1" sz="2000">
                <a:solidFill>
                  <a:srgbClr val="06D6A0"/>
                </a:solidFill>
                <a:latin typeface="Calibri"/>
              </a:defRPr>
            </a:pPr>
            <a:r>
              <a:t>54+ discoverable components  •  Two builder implementations</a:t>
            </a:r>
          </a:p>
          <a:p>
            <a:pPr algn="ctr">
              <a:spcAft>
                <a:spcPts val="599"/>
              </a:spcAft>
              <a:defRPr b="1" sz="2000">
                <a:solidFill>
                  <a:srgbClr val="06D6A0"/>
                </a:solidFill>
                <a:latin typeface="Calibri"/>
              </a:defRPr>
            </a:pPr>
            <a:r>
              <a:t>CLI interface  •  Five working examples</a:t>
            </a:r>
          </a:p>
          <a:p>
            <a:pPr algn="ctr">
              <a:spcAft>
                <a:spcPts val="599"/>
              </a:spcAft>
              <a:defRPr b="0" sz="20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99"/>
              </a:spcAft>
              <a:defRPr b="0" sz="2000">
                <a:solidFill>
                  <a:srgbClr val="FFD166"/>
                </a:solidFill>
                <a:latin typeface="Calibri"/>
              </a:defRPr>
            </a:pPr>
            <a:r>
              <a:t>Discovery eliminates memorization  •  Validation catches errors early</a:t>
            </a:r>
          </a:p>
          <a:p>
            <a:pPr algn="ctr">
              <a:spcAft>
                <a:spcPts val="599"/>
              </a:spcAft>
              <a:defRPr b="0" sz="2000">
                <a:solidFill>
                  <a:srgbClr val="FFD166"/>
                </a:solidFill>
                <a:latin typeface="Calibri"/>
              </a:defRPr>
            </a:pPr>
            <a:r>
              <a:t>LLM-friendly API enables AI-assisted workflow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